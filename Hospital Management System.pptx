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Nunito"/>
      <p:regular r:id="rId39"/>
      <p:bold r:id="rId40"/>
      <p:italic r:id="rId41"/>
      <p:boldItalic r:id="rId42"/>
    </p:embeddedFont>
    <p:embeddedFont>
      <p:font typeface="Maven Pro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.fntdata"/><Relationship Id="rId20" Type="http://schemas.openxmlformats.org/officeDocument/2006/relationships/slide" Target="slides/slide15.xml"/><Relationship Id="rId42" Type="http://schemas.openxmlformats.org/officeDocument/2006/relationships/font" Target="fonts/Nunito-boldItalic.fntdata"/><Relationship Id="rId41" Type="http://schemas.openxmlformats.org/officeDocument/2006/relationships/font" Target="fonts/Nunito-italic.fntdata"/><Relationship Id="rId22" Type="http://schemas.openxmlformats.org/officeDocument/2006/relationships/slide" Target="slides/slide17.xml"/><Relationship Id="rId44" Type="http://schemas.openxmlformats.org/officeDocument/2006/relationships/font" Target="fonts/MavenPro-bold.fntdata"/><Relationship Id="rId21" Type="http://schemas.openxmlformats.org/officeDocument/2006/relationships/slide" Target="slides/slide16.xml"/><Relationship Id="rId43" Type="http://schemas.openxmlformats.org/officeDocument/2006/relationships/font" Target="fonts/MavenPro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schemas.openxmlformats.org/officeDocument/2006/relationships/font" Target="fonts/Nunito-regular.fnt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4889854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e4889854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23eea88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e23eea88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e23eea88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e23eea88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2a5ed6a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e2a5ed6a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e426443b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e426443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e426443b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e426443b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e426443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e426443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426443b9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e426443b9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e4889854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e4889854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e4889854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e4889854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e488985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e488985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e4889854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e4889854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e4889854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e4889854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e4889854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e4889854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e4889854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e4889854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e4889854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e4889854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e4889854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e4889854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e4889854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e4889854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e4889854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e4889854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e4889854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e4889854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e6a8a37a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e6a8a37a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e6a8a37a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e6a8a37a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e6a8a37a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e6a8a37a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e6a8a37a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e6a8a37a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e6a8a37a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e6a8a37a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e6a8a37a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e6a8a37a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e6a8a37a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e6a8a37a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e6a8a37a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e6a8a37a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e6a8a37a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e6a8a37a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p.nam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Relationship Id="rId4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Relationship Id="rId4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Relationship Id="rId4" Type="http://schemas.openxmlformats.org/officeDocument/2006/relationships/image" Target="../media/image2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Relationship Id="rId4" Type="http://schemas.openxmlformats.org/officeDocument/2006/relationships/image" Target="../media/image2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jpg"/><Relationship Id="rId4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77" name="Google Shape;2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MEMBERS:</a:t>
            </a:r>
            <a:endParaRPr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305400" y="1597875"/>
            <a:ext cx="8028900" cy="27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URVI KASBE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PRITI GAWADE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SNEHA KAMBLE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PAYAL MAURYA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RIYA RANE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UTKARSHA SAMDURE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3061200" y="445025"/>
            <a:ext cx="3157500" cy="53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820" u="sng"/>
              <a:t>INTRODUCTION </a:t>
            </a:r>
            <a:endParaRPr b="1" sz="2820" u="sng"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311700" y="1152475"/>
            <a:ext cx="8724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What is SQL?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SQL, or Structured Query Language, is the standard programming language designed for managing and manipulating relational databases.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Purpose of SQL: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Its core purpose is to facilitate the storage, retrieval, and manipulation of data within databases.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It also provides essential mechanisms for ensuring data integrity and security.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Role in Database Management: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SQL is indispensable for performing fundamental database operations such as querying, updating, inserting, and deleting data.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3027250" y="445025"/>
            <a:ext cx="34800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8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-GB" sz="3088" u="sng">
                <a:solidFill>
                  <a:srgbClr val="0A0A0A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INSIGHTS of SQL</a:t>
            </a:r>
            <a:endParaRPr b="1" sz="3088" u="sng">
              <a:solidFill>
                <a:srgbClr val="0A0A0A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8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i="1" lang="en-GB" sz="1755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Key Features:</a:t>
            </a:r>
            <a:endParaRPr i="1" sz="1755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796825"/>
            <a:ext cx="90678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2365225" y="465800"/>
            <a:ext cx="38364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80000"/>
              </a:lnSpc>
              <a:spcBef>
                <a:spcPts val="1700"/>
              </a:spcBef>
              <a:spcAft>
                <a:spcPts val="500"/>
              </a:spcAft>
              <a:buNone/>
            </a:pPr>
            <a:r>
              <a:rPr b="1" lang="en-GB" sz="2500" u="sng">
                <a:solidFill>
                  <a:srgbClr val="0A0A0A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Benefits of Using SQL</a:t>
            </a:r>
            <a:endParaRPr b="1" sz="4100" u="sng"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303000" y="965750"/>
            <a:ext cx="8538000" cy="3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9405" lvl="0" marL="4572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Roboto"/>
              <a:buAutoNum type="arabicPeriod"/>
            </a:pPr>
            <a:r>
              <a:rPr b="1" lang="en-GB" sz="1430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Efficiency in Data Management</a:t>
            </a:r>
            <a:endParaRPr b="1"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SzPts val="852"/>
              <a:buNone/>
            </a:pPr>
            <a:r>
              <a:rPr lang="en-GB" sz="1430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Streamlines querying and updating; enables automation of repetitive tasks.</a:t>
            </a:r>
            <a:endParaRPr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9405" lvl="0" marL="4572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Roboto"/>
              <a:buAutoNum type="arabicPeriod"/>
            </a:pPr>
            <a:r>
              <a:rPr b="1" lang="en-GB" sz="1430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Enhanced Data Integrity</a:t>
            </a:r>
            <a:endParaRPr b="1"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SzPts val="852"/>
              <a:buNone/>
            </a:pPr>
            <a:r>
              <a:rPr lang="en-GB" sz="1430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Ensures accuracy and consistency through relationships and constraints.</a:t>
            </a:r>
            <a:endParaRPr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9405" lvl="0" marL="4572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Roboto"/>
              <a:buAutoNum type="arabicPeriod"/>
            </a:pPr>
            <a:r>
              <a:rPr b="1" lang="en-GB" sz="1430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Scalability</a:t>
            </a:r>
            <a:endParaRPr b="1"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SzPts val="852"/>
              <a:buNone/>
            </a:pPr>
            <a:r>
              <a:rPr lang="en-GB" sz="1430">
                <a:solidFill>
                  <a:schemeClr val="dk1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</a:rPr>
              <a:t>Handles large datasets and multiple users simultaneously.</a:t>
            </a:r>
            <a:endParaRPr sz="1430">
              <a:solidFill>
                <a:schemeClr val="dk1"/>
              </a:solidFill>
              <a:highlight>
                <a:srgbClr val="FCFCF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8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3570450" y="445025"/>
            <a:ext cx="173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-GB" sz="2400" u="sng"/>
              <a:t>ABSTRACT</a:t>
            </a:r>
            <a:endParaRPr b="1" sz="4100" u="sng"/>
          </a:p>
        </p:txBody>
      </p:sp>
      <p:sp>
        <p:nvSpPr>
          <p:cNvPr id="307" name="Google Shape;307;p18"/>
          <p:cNvSpPr txBox="1"/>
          <p:nvPr>
            <p:ph idx="1" type="body"/>
          </p:nvPr>
        </p:nvSpPr>
        <p:spPr>
          <a:xfrm>
            <a:off x="599800" y="1284450"/>
            <a:ext cx="7757700" cy="3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687">
                <a:solidFill>
                  <a:schemeClr val="dk1"/>
                </a:solidFill>
              </a:rPr>
              <a:t>Structured Query Language (</a:t>
            </a:r>
            <a:r>
              <a:rPr b="1" lang="en-GB" sz="1687">
                <a:solidFill>
                  <a:schemeClr val="dk1"/>
                </a:solidFill>
              </a:rPr>
              <a:t>SQL</a:t>
            </a:r>
            <a:r>
              <a:rPr lang="en-GB" sz="1687">
                <a:solidFill>
                  <a:schemeClr val="dk1"/>
                </a:solidFill>
              </a:rPr>
              <a:t>) plays a critical role in managing hospital databases by providing an efficient and systematic way to store, retrieve, and manipulate healthcare-related data. In a hospital setting, maintaining patient records, doctor schedules, appointments, medical histories, and billing details is crucial for operational efficiency. SQL enables </a:t>
            </a:r>
            <a:r>
              <a:rPr b="1" lang="en-GB" sz="1687">
                <a:solidFill>
                  <a:schemeClr val="dk1"/>
                </a:solidFill>
              </a:rPr>
              <a:t>data integrity, security, and quick access to information</a:t>
            </a:r>
            <a:r>
              <a:rPr lang="en-GB" sz="1687">
                <a:solidFill>
                  <a:schemeClr val="dk1"/>
                </a:solidFill>
              </a:rPr>
              <a:t> through its powerful querying capabilities. It helps generate reports that aid in decision-making, such as identifying high-risk patients, tracking revenue, and managing resource allocation. By leveraging SQL, hospitals can ensure </a:t>
            </a:r>
            <a:r>
              <a:rPr b="1" lang="en-GB" sz="1687">
                <a:solidFill>
                  <a:schemeClr val="dk1"/>
                </a:solidFill>
              </a:rPr>
              <a:t>smooth workflow automation, minimize errors, and enhance patient care</a:t>
            </a:r>
            <a:r>
              <a:rPr lang="en-GB" sz="1687">
                <a:solidFill>
                  <a:schemeClr val="dk1"/>
                </a:solidFill>
              </a:rPr>
              <a:t> through real-time data management.</a:t>
            </a:r>
            <a:endParaRPr sz="16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233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3163050" y="445025"/>
            <a:ext cx="220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700" u="sng"/>
              <a:t>OBJECTIVE</a:t>
            </a:r>
            <a:endParaRPr b="1" sz="3200" u="sng"/>
          </a:p>
        </p:txBody>
      </p:sp>
      <p:sp>
        <p:nvSpPr>
          <p:cNvPr id="313" name="Google Shape;313;p19"/>
          <p:cNvSpPr txBox="1"/>
          <p:nvPr>
            <p:ph idx="1" type="body"/>
          </p:nvPr>
        </p:nvSpPr>
        <p:spPr>
          <a:xfrm>
            <a:off x="311700" y="1184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To design and implement a </a:t>
            </a:r>
            <a:r>
              <a:rPr b="1" lang="en-GB" sz="1600">
                <a:solidFill>
                  <a:schemeClr val="dk1"/>
                </a:solidFill>
              </a:rPr>
              <a:t>Hospital Database Management System</a:t>
            </a:r>
            <a:r>
              <a:rPr lang="en-GB" sz="1600">
                <a:solidFill>
                  <a:schemeClr val="dk1"/>
                </a:solidFill>
              </a:rPr>
              <a:t> using </a:t>
            </a:r>
            <a:r>
              <a:rPr b="1" lang="en-GB" sz="1600">
                <a:solidFill>
                  <a:schemeClr val="dk1"/>
                </a:solidFill>
              </a:rPr>
              <a:t>MySQL</a:t>
            </a:r>
            <a:r>
              <a:rPr lang="en-GB" sz="1600">
                <a:solidFill>
                  <a:schemeClr val="dk1"/>
                </a:solidFill>
              </a:rPr>
              <a:t> that ensures efficient storage, management, and retrieval of hospital-related data.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 The system aims to: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Develop a </a:t>
            </a:r>
            <a:r>
              <a:rPr b="1" lang="en-GB" sz="1600">
                <a:solidFill>
                  <a:schemeClr val="dk1"/>
                </a:solidFill>
              </a:rPr>
              <a:t>well-structured relational database</a:t>
            </a:r>
            <a:r>
              <a:rPr lang="en-GB" sz="1600">
                <a:solidFill>
                  <a:schemeClr val="dk1"/>
                </a:solidFill>
              </a:rPr>
              <a:t> for hospital operations.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Maintain organized records of </a:t>
            </a:r>
            <a:r>
              <a:rPr b="1" lang="en-GB" sz="1600">
                <a:solidFill>
                  <a:schemeClr val="dk1"/>
                </a:solidFill>
              </a:rPr>
              <a:t>patients, doctors, staff, appointments, treatments, and billing</a:t>
            </a:r>
            <a:r>
              <a:rPr lang="en-GB" sz="1600">
                <a:solidFill>
                  <a:schemeClr val="dk1"/>
                </a:solidFill>
              </a:rPr>
              <a:t>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Enable </a:t>
            </a:r>
            <a:r>
              <a:rPr b="1" lang="en-GB" sz="1600">
                <a:solidFill>
                  <a:schemeClr val="dk1"/>
                </a:solidFill>
              </a:rPr>
              <a:t>fast and accurate querying</a:t>
            </a:r>
            <a:r>
              <a:rPr lang="en-GB" sz="1600">
                <a:solidFill>
                  <a:schemeClr val="dk1"/>
                </a:solidFill>
              </a:rPr>
              <a:t> to generate reports and support decision-making.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Improve the overall </a:t>
            </a:r>
            <a:r>
              <a:rPr b="1" lang="en-GB" sz="1600">
                <a:solidFill>
                  <a:schemeClr val="dk1"/>
                </a:solidFill>
              </a:rPr>
              <a:t>efficiency, reliability, and accessibility</a:t>
            </a:r>
            <a:r>
              <a:rPr lang="en-GB" sz="1600">
                <a:solidFill>
                  <a:schemeClr val="dk1"/>
                </a:solidFill>
              </a:rPr>
              <a:t> of hospital information management.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QUERIES</a:t>
            </a:r>
            <a:r>
              <a:rPr lang="en-GB"/>
              <a:t>:</a:t>
            </a:r>
            <a:endParaRPr/>
          </a:p>
        </p:txBody>
      </p:sp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1096050" y="1467750"/>
            <a:ext cx="77175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1. </a:t>
            </a:r>
            <a:r>
              <a:rPr lang="en-GB" sz="1600"/>
              <a:t>Write a SQL query to identify the physicians who are the department heads.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-&gt;select p.employeeid, p.name, p.position, p.ssn from physician p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JOIN department 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On p.employeeid=d.head;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OUTPUT: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20" title="WhatsApp Image 2025-12-07 at 17.11.0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125" y="3144250"/>
            <a:ext cx="4895551" cy="19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/>
        </p:nvSpPr>
        <p:spPr>
          <a:xfrm>
            <a:off x="240932" y="383800"/>
            <a:ext cx="85164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2. Write a SQL query to locate the floor and block where room number 212 is located.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select blockfloor, blockcode from room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where </a:t>
            </a: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room number</a:t>
            </a: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=212;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3. Write a SQL query to count the number of unavailable rooms. Return count as   "Number of unavailable rooms".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select count(*) as Number_of_unavailable_rooms from room where unavailable='t';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6" name="Google Shape;326;p21" title="WhatsApp Image 2025-12-07 at 17.11.5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300" y="1157650"/>
            <a:ext cx="4443500" cy="107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 title="WhatsApp Image 2025-12-07 at 17.14.37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8175" y="3480000"/>
            <a:ext cx="5358175" cy="16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/>
        </p:nvSpPr>
        <p:spPr>
          <a:xfrm>
            <a:off x="72850" y="117650"/>
            <a:ext cx="8922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4. Write a SQL query to identify the physician and the department with which he or she is affiliated.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SELECT p.name AS physician_name, d.name AS department_name from physician p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JOIN affiliated_with a ON p.employeeid = a.physician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JOIN department d ON a.department = d.departmentid;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5. Write a SQL query to find those physicians who have received special training.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select DISTINCT p.employeeid, p.name from physician p 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JOIN trained_in 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ON p.employeeid=t.physician;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3" name="Google Shape;3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625" y="1469550"/>
            <a:ext cx="39272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2779" y="3663450"/>
            <a:ext cx="4240825" cy="14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4575" y="1507650"/>
            <a:ext cx="35153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/>
        </p:nvSpPr>
        <p:spPr>
          <a:xfrm>
            <a:off x="437025" y="201700"/>
            <a:ext cx="8376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6. Write a SQL query to identify the patients and the number of physicians with whom they have scheduled appointments.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-&gt;SELECT p.ssn, p.name, count(DISTINCT a.physician) AS num_physicians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FROM patient p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JOIN appointment a ON p.ssn = a.patient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GROUP BY p.ssn, </a:t>
            </a:r>
            <a:r>
              <a:rPr lang="en-GB" sz="16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p.name</a:t>
            </a: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7.Write a SQL query to count the number of unique patients who have been scheduled for examination room 'C'.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-&gt;select count(DISTINCT patient) as patients from appointment where                 examination room='C';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950" y="1772325"/>
            <a:ext cx="48884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5150" y="4006500"/>
            <a:ext cx="4508725" cy="10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/>
        </p:nvSpPr>
        <p:spPr>
          <a:xfrm>
            <a:off x="324975" y="243725"/>
            <a:ext cx="8307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8.Write a SQL query to count the number of available rooms for each floor  in each block. Sort the result-set on floor ID, ID of the block.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 SELECT 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blockfloor,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blockcode,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COUNT(*) AS available_rooms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FROM Room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WHERE unavailable = 'f' OR unavailable = 0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GROUP BY blockfloor, blockcode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ORDER BY blockfloor, blockcode;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8" name="Google Shape;3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54" y="2809300"/>
            <a:ext cx="4580675" cy="20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/>
        </p:nvSpPr>
        <p:spPr>
          <a:xfrm>
            <a:off x="745200" y="271750"/>
            <a:ext cx="78162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9. Create a view to display the name of the patients, their block, floor, and room number where they are admitted.  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-&gt;p.name AS patient_name,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r.blockcode AS block,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r.blockfloor AS floor,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r.roomnumber AS room_number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FROM Patient p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JOIN Stay s 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ON p.ssn = s.patient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JOIN Room r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ON s.room = r.roomnumber;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SELECT * FROM PatientRoomDetails;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4" name="Google Shape;3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750" y="3328175"/>
            <a:ext cx="5019675" cy="22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/>
        </p:nvSpPr>
        <p:spPr>
          <a:xfrm>
            <a:off x="563100" y="299750"/>
            <a:ext cx="81804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10.Write a SQL query to find those patients who have undergone a procedure costing more than $5,000, as well as the name of the physician who has provided primary care, should be identified.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&gt;pat.name AS patient_name,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phy.name AS pcp_name,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pr.name AS procedure_name,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pr.cost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FROM Patient pat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JOIN Undergoes u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ON pat.ssn = u.patient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JOIN Procedures pr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ON u.procedures = pr.code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JOIN Physician phy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ON pat.pcp = phy.employeeid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WHERE pr.cost &gt; 5000;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OUTPUT: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360" name="Google Shape;3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975" y="4116575"/>
            <a:ext cx="7086600" cy="13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"/>
          <p:cNvSpPr txBox="1"/>
          <p:nvPr/>
        </p:nvSpPr>
        <p:spPr>
          <a:xfrm>
            <a:off x="142875" y="369800"/>
            <a:ext cx="7070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11.Write a SQL query to identify those patients whose primary care is provided by a physician who is not the head of any department.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 p.name AS patient_name,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phy.name AS pcp_name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FROM Patient p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JOIN Physician phy 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ON p.pcp = phy.employeeid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WHERE p.pcp NOT IN (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SELECT head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FROM Department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WHERE head IS NOT NULL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6" name="Google Shape;3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625" y="3407450"/>
            <a:ext cx="5039575" cy="14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/>
        </p:nvSpPr>
        <p:spPr>
          <a:xfrm>
            <a:off x="465050" y="467850"/>
            <a:ext cx="82362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12. </a:t>
            </a:r>
            <a:r>
              <a:rPr lang="en-GB" sz="1600">
                <a:highlight>
                  <a:srgbClr val="FFFFFF"/>
                </a:highlight>
              </a:rPr>
              <a:t>Retrieve the names of patients who have been prescribed at least one medication by a physician from the Psychiatry department using a subquery.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</a:t>
            </a: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SELECT DISTINCT p.name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FROM patient p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WHERE p.ssn IN (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SELECT pr.patient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FROM prescribes pr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WHERE pr.physician IN (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SELECT physician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FROM affiliated_with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WHERE department = (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SELECT department_id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FROM department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WHERE name = 'Psychiatry') ) );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2" name="Google Shape;3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150" y="4113800"/>
            <a:ext cx="2904000" cy="9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"/>
          <p:cNvSpPr txBox="1"/>
          <p:nvPr/>
        </p:nvSpPr>
        <p:spPr>
          <a:xfrm>
            <a:off x="521075" y="142725"/>
            <a:ext cx="8096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13.</a:t>
            </a:r>
            <a:r>
              <a:rPr lang="en-GB" sz="1600">
                <a:solidFill>
                  <a:schemeClr val="dk2"/>
                </a:solidFill>
                <a:highlight>
                  <a:srgbClr val="FFFFFF"/>
                </a:highlight>
              </a:rPr>
              <a:t>Create a trigger that prevents inserting a new appointment if the physician does not have a primary affiliation with a department.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DELIMITER $$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CREATE TRIGGER check_physician_primary_affiliation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BEFORE INSERT ON appointment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EACH ROW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BEGIN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-- Count primary affiliations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IF (SELECT COUNT(*)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 FROM affiliated_with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 WHERE physician = NEW.physician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   AND primaryaffiliation = 't') = 0 THEN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 SIGNAL SQLSTATE '45000'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     SET MESSAGE_TEXT = 'Error: Physician does not have a primary department affiliation.';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END IF;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END $$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DELIMITER ;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 “</a:t>
            </a:r>
            <a:r>
              <a:rPr b="1" lang="en-GB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SUCCESSFUL</a:t>
            </a:r>
            <a:r>
              <a:rPr lang="en-GB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” 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IF WANT TO CHECK THE </a:t>
            </a:r>
            <a:r>
              <a:rPr lang="en-GB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TRIGGER</a:t>
            </a:r>
            <a:r>
              <a:rPr lang="en-GB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IS WORKING :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INSERT INTO appointment (appointmentid, patient, prepnurse, physician, startdatetime, enddatetime, examinationroom)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VALUES (999999, 100000001, 101, 10, '2008-04-28 10:00:00', '2008-04-28 11:00:00', 'A');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IF IT SHOWS ERROR THEN IT MEANS THE TRIGGER IS WORKING.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"/>
          <p:cNvSpPr txBox="1"/>
          <p:nvPr/>
        </p:nvSpPr>
        <p:spPr>
          <a:xfrm>
            <a:off x="675150" y="397800"/>
            <a:ext cx="7070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14.</a:t>
            </a:r>
            <a:r>
              <a:rPr lang="en-GB" sz="1100">
                <a:highlight>
                  <a:srgbClr val="FFFFFF"/>
                </a:highlight>
              </a:rPr>
              <a:t> </a:t>
            </a:r>
            <a:r>
              <a:rPr lang="en-GB" sz="1600">
                <a:solidFill>
                  <a:schemeClr val="dk2"/>
                </a:solidFill>
                <a:highlight>
                  <a:srgbClr val="FFFFFF"/>
                </a:highlight>
              </a:rPr>
              <a:t>Update the insurance ID of patients whose primary care physician (PCP) is 'John Dorian' to a new value '99999999'.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-&gt;UPDATE patient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SET insuranceid = 99999999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WHERE pcp = (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SELECT employeeid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FROM physician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WHERE name = 'John Dorian'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3" name="Google Shape;3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050" y="3177425"/>
            <a:ext cx="7282000" cy="15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"/>
          <p:cNvSpPr txBox="1"/>
          <p:nvPr/>
        </p:nvSpPr>
        <p:spPr>
          <a:xfrm>
            <a:off x="324975" y="355775"/>
            <a:ext cx="85164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15. </a:t>
            </a:r>
            <a:r>
              <a:rPr lang="en-GB" sz="1500">
                <a:highlight>
                  <a:srgbClr val="FFFFFF"/>
                </a:highlight>
              </a:rPr>
              <a:t>Retrieve each physician's name along with the number of appointments they have, and show the r</a:t>
            </a:r>
            <a:r>
              <a:rPr lang="en-GB" sz="1500"/>
              <a:t>anking of each physician based on the number of appointments in descending order.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=&gt;SELECT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ph.name AS physician_name,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COUNT(a.appointmentid) AS appointment_count,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RANK() OVER (ORDER BY COUNT(a.appointmentid) DESC) AS     appointment_rank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FROM physician ph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LEFT JOIN appointment 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ON ph.employeeid = a.physician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GROUP BY ph.employeeid, ph.name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    ORDER BY appointment_count DESC;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OUTPUT: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9" name="Google Shape;3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075" y="3042975"/>
            <a:ext cx="4046550" cy="15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"/>
          <p:cNvSpPr txBox="1"/>
          <p:nvPr/>
        </p:nvSpPr>
        <p:spPr>
          <a:xfrm>
            <a:off x="469925" y="366650"/>
            <a:ext cx="7833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affiliated_with Table: 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5" name="Google Shape;3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50" y="967150"/>
            <a:ext cx="7521500" cy="33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"/>
          <p:cNvSpPr txBox="1"/>
          <p:nvPr/>
        </p:nvSpPr>
        <p:spPr>
          <a:xfrm>
            <a:off x="686825" y="258200"/>
            <a:ext cx="74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Appointment table: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1" name="Google Shape;4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846925"/>
            <a:ext cx="8132874" cy="393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"/>
          <p:cNvSpPr txBox="1"/>
          <p:nvPr/>
        </p:nvSpPr>
        <p:spPr>
          <a:xfrm>
            <a:off x="710075" y="127975"/>
            <a:ext cx="72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Department Table: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7" name="Google Shape;4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75" y="615450"/>
            <a:ext cx="7415800" cy="15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4"/>
          <p:cNvSpPr txBox="1"/>
          <p:nvPr/>
        </p:nvSpPr>
        <p:spPr>
          <a:xfrm>
            <a:off x="609375" y="2210250"/>
            <a:ext cx="829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Medication Table: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9" name="Google Shape;40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325" y="2656650"/>
            <a:ext cx="7839200" cy="22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/>
        </p:nvSpPr>
        <p:spPr>
          <a:xfrm>
            <a:off x="1020900" y="117250"/>
            <a:ext cx="511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Nurse table: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5" name="Google Shape;4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100" y="532750"/>
            <a:ext cx="7506675" cy="16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/>
        </p:nvSpPr>
        <p:spPr>
          <a:xfrm>
            <a:off x="885100" y="2139450"/>
            <a:ext cx="705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On_call table: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7" name="Google Shape;41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100" y="2570550"/>
            <a:ext cx="7506676" cy="20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 txBox="1"/>
          <p:nvPr/>
        </p:nvSpPr>
        <p:spPr>
          <a:xfrm>
            <a:off x="962275" y="175875"/>
            <a:ext cx="561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Patient table: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3" name="Google Shape;4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275" y="560775"/>
            <a:ext cx="7620001" cy="1622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 txBox="1"/>
          <p:nvPr/>
        </p:nvSpPr>
        <p:spPr>
          <a:xfrm>
            <a:off x="962275" y="2022225"/>
            <a:ext cx="678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Physician Table: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5" name="Google Shape;4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275" y="2764675"/>
            <a:ext cx="7620000" cy="20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/>
          <p:nvPr/>
        </p:nvSpPr>
        <p:spPr>
          <a:xfrm>
            <a:off x="669200" y="278425"/>
            <a:ext cx="763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Prescribes Table: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1" name="Google Shape;4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450" y="774226"/>
            <a:ext cx="7751900" cy="154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7"/>
          <p:cNvSpPr txBox="1"/>
          <p:nvPr/>
        </p:nvSpPr>
        <p:spPr>
          <a:xfrm>
            <a:off x="742450" y="2379300"/>
            <a:ext cx="613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Procedure Table: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3" name="Google Shape;43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875" y="2764200"/>
            <a:ext cx="7195050" cy="218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/>
          <p:nvPr/>
        </p:nvSpPr>
        <p:spPr>
          <a:xfrm>
            <a:off x="654550" y="219825"/>
            <a:ext cx="615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Room Table: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9" name="Google Shape;4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50" y="604725"/>
            <a:ext cx="7634675" cy="20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8"/>
          <p:cNvSpPr txBox="1"/>
          <p:nvPr/>
        </p:nvSpPr>
        <p:spPr>
          <a:xfrm>
            <a:off x="654550" y="2787513"/>
            <a:ext cx="684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Stay Table: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1" name="Google Shape;44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900" y="3278525"/>
            <a:ext cx="6945925" cy="15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 txBox="1"/>
          <p:nvPr/>
        </p:nvSpPr>
        <p:spPr>
          <a:xfrm>
            <a:off x="2222500" y="556850"/>
            <a:ext cx="69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7" name="Google Shape;447;p39"/>
          <p:cNvSpPr txBox="1"/>
          <p:nvPr/>
        </p:nvSpPr>
        <p:spPr>
          <a:xfrm>
            <a:off x="595925" y="171950"/>
            <a:ext cx="59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="1" lang="en-GB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rained_in Table: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8" name="Google Shape;4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654525"/>
            <a:ext cx="7990250" cy="37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0"/>
          <p:cNvSpPr txBox="1"/>
          <p:nvPr/>
        </p:nvSpPr>
        <p:spPr>
          <a:xfrm>
            <a:off x="727825" y="351700"/>
            <a:ext cx="740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Undergoes Table: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4" name="Google Shape;4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300" y="1311525"/>
            <a:ext cx="7330825" cy="28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 txBox="1"/>
          <p:nvPr/>
        </p:nvSpPr>
        <p:spPr>
          <a:xfrm>
            <a:off x="268650" y="588050"/>
            <a:ext cx="80988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Hospital Management System using SQL effectively demonstrates how relational databases help streamline and optimize healthcare operations.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SQL enables efficient management of hospital data such as patient records, staff information, appointments, room allocations, and medical procedures.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Advanced SQL features like views, triggers, window functions, and subqueries significantly improve data integrity, automation, and system reliability.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system supports faster and more accurate decision-making through powerful data retrieval and reporting capabilities.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SQL-based automation reduces manual errors and enhances overall operational efficiency within hospital workflows.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project emphasizes the essential role of database management in modern healthcare environments.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en-GB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work provides a strong foundation for creating a fully functional and scalable Hospital Management System application in the future.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0" name="Google Shape;460;p41"/>
          <p:cNvSpPr txBox="1"/>
          <p:nvPr/>
        </p:nvSpPr>
        <p:spPr>
          <a:xfrm>
            <a:off x="845025" y="141650"/>
            <a:ext cx="5719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REPORT OF THE ASSIGNMENT:</a:t>
            </a:r>
            <a:endParaRPr b="1" sz="1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